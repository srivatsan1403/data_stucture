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6.png" /><Relationship Id="rId4" Type="http://schemas.openxmlformats.org/officeDocument/2006/relationships/image" Target="../media/image15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395537"/>
            <a:ext cx="12192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6A34A"/>
                </a:solidFill>
                <a:latin typeface="Poppins"/>
              </a:rPr>
              <a:t>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81362"/>
            <a:ext cx="121920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16A34A"/>
                </a:solidFill>
                <a:latin typeface="Poppins"/>
              </a:rPr>
              <a:t>Introduction to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6762"/>
            <a:ext cx="12192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6A34A"/>
                </a:solidFill>
                <a:latin typeface="Poppins"/>
              </a:rPr>
              <a:t>Course: Data Structure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62" y="742950"/>
            <a:ext cx="42862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29162" y="476250"/>
            <a:ext cx="11525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Poppins"/>
              </a:rPr>
              <a:t>SIMATS</a:t>
            </a:r>
            <a:r>
              <a:t>
</a:t>
            </a:r>
            <a:r>
              <a:rPr sz="2400" b="0" i="0" u="none">
                <a:solidFill>
                  <a:srgbClr val="0284C7"/>
                </a:solidFill>
                <a:latin typeface="Poppins"/>
              </a:rPr>
              <a:t>ENGINEERING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742950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81812" y="704850"/>
            <a:ext cx="1152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Poppins"/>
              </a:rPr>
              <a:t>SIMATS</a:t>
            </a:r>
          </a:p>
        </p:txBody>
      </p:sp>
      <p:sp>
        <p:nvSpPr>
          <p:cNvPr id="9" name="TextBox 8"/>
          <p:cNvSpPr txBox="1"/>
          <p:nvPr/>
        </p:nvSpPr>
        <p:spPr>
          <a:xfrm rot="10800000" flipV="1">
            <a:off x="8630567" y="5714999"/>
            <a:ext cx="2132683" cy="500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sz="1350" b="0" i="0" u="none">
                <a:solidFill>
                  <a:srgbClr val="16A34A"/>
                </a:solidFill>
                <a:latin typeface="Poppins SemiBold"/>
              </a:rPr>
              <a:t>DONE BY</a:t>
            </a:r>
            <a:r>
              <a:t>
</a:t>
            </a:r>
            <a:r>
              <a:rPr sz="1350" b="0" i="0" u="none">
                <a:solidFill>
                  <a:srgbClr val="16A34A"/>
                </a:solidFill>
                <a:latin typeface="Poppins SemiBold"/>
              </a:rPr>
              <a:t> SRIVATSAN 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43000"/>
            <a:ext cx="571500" cy="3333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1762125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A data structure is a specialized format for organizing, processing, retrieving, and storing data effectively in a computer's memory.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2914650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Different types of data structures are suited to different kinds of applications, and some are highly specialized to specific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06717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Understanding data structures provides a crucial means to manage large amounts of data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914900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This organization is the absolute cornerstone of writing performant and scalable algorithms.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62125"/>
            <a:ext cx="5286375" cy="428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4987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57512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003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57762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6A34A"/>
                </a:solidFill>
                <a:latin typeface="Poppins"/>
              </a:rPr>
              <a:t>What is a Data Structure?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90687"/>
            <a:ext cx="5286375" cy="4429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90687"/>
            <a:ext cx="5286375" cy="4429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9391" y="2081212"/>
            <a:ext cx="4730591" cy="4000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5803D"/>
                </a:solidFill>
                <a:latin typeface="Poppins SemiBold"/>
              </a:rPr>
              <a:t>Linear 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719387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Data elements are arranged sequentially or linearly, where each element is attached to its previous and next adjacent elements in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2016" y="2081212"/>
            <a:ext cx="4730591" cy="400050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5803D"/>
                </a:solidFill>
                <a:latin typeface="Poppins SemiBold"/>
              </a:rPr>
              <a:t>Non-Linear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719387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Data elements are not placed sequentially. They are arranged in a hierarchical manner, with elements connected to multiple other elements.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2138362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50" y="37766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776662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Arrays: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Contiguous memory blocks.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2243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4224337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Linked Lists: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Connected individual nodes.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467201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672012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Stacks: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Last-In-First-Out (LIFO).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511968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5119687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Queues: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First-In-First-Out (FIFO).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762" y="2138362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48475" y="37766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3776662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Trees: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Parent-child relationships (e.g., Binary Search Trees).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475" y="45291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5" y="4529137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Graphs: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Interconnected nodes via edges.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497681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2775" y="4976812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Hash Tables: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Key-value pair associations mapping indexes to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6A34A"/>
                </a:solidFill>
                <a:latin typeface="Poppins"/>
              </a:rPr>
              <a:t>Classification of Data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6A34A"/>
                </a:solidFill>
                <a:latin typeface="Poppins"/>
              </a:rPr>
              <a:t>Linked Lists: Dynamic Memory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95500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6A34A"/>
                </a:solidFill>
                <a:latin typeface="Poppins SemiBold"/>
              </a:rPr>
              <a:t>Overcoming Fixed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38425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Linked Lists consist of nodes where each node contains data and a pointer (or reference) to the next node in the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90900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Unlike arrays, memory does not need to be contiguous. This dynamic structure allows for efficient insertion and deletion of elements without shifting large blocks of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448175"/>
            <a:ext cx="5286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Variations include: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50863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6350"/>
            <a:ext cx="50958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Singly Linked Lists (one-way pointers)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5486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486400"/>
            <a:ext cx="50958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Doubly Linked Lists (two-way pointers)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5886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886450"/>
            <a:ext cx="5095875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Circular Linked Lists (looping structure)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5286375" cy="4972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19225"/>
            <a:ext cx="5286375" cy="4972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9391" y="1809750"/>
            <a:ext cx="4730591" cy="400050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5803D"/>
                </a:solidFill>
                <a:latin typeface="Poppins SemiBold"/>
              </a:rPr>
              <a:t>Stacks (LIFO)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4479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Operates on a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Last-In, First-Out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principle, much like a stack of plates. The last element added is the first one to be removed.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3552825"/>
            <a:ext cx="4505325" cy="190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25" y="3762375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Key Operations: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Push (add), Pop (remove).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2100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Use Cases: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2016" y="1809750"/>
            <a:ext cx="4730591" cy="400050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15803D"/>
                </a:solidFill>
                <a:latin typeface="Poppins SemiBold"/>
              </a:rPr>
              <a:t>Queues (FIFO)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4479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Operates on a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First-In, First-Out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principle, similar to a line at a ticket counter. The first element added is the first one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4650" y="3552825"/>
            <a:ext cx="4505325" cy="190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4650" y="3762375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Key Operations: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Enqueue (add), Dequeue (remove).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21005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Use Cases: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212" y="1866900"/>
            <a:ext cx="3048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50" y="46577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4657725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Undo mechanisms in text editors.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5105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5105400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Browser history navigation.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55530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5553075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Function call stack (handling recursion).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350" y="1866900"/>
            <a:ext cx="33337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48475" y="46577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2775" y="4657725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Task scheduling in operating systems.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475" y="51054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2775" y="5105400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Printer spooling operations.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475" y="55530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2775" y="5553075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Breadth-First Search (BFS) in graphs.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66725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6A34A"/>
                </a:solidFill>
                <a:latin typeface="Poppins"/>
              </a:rPr>
              <a:t>Stacks vs. Queues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ECE5D4-377E-7C56-9F1E-9816E90A6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74" y="719666"/>
            <a:ext cx="6286851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72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SRIVATSAN L</cp:lastModifiedBy>
  <cp:revision>2</cp:revision>
  <dcterms:created xsi:type="dcterms:W3CDTF">2013-01-27T09:14:16Z</dcterms:created>
  <dcterms:modified xsi:type="dcterms:W3CDTF">2026-08-07T03:45:16Z</dcterms:modified>
  <cp:category/>
</cp:coreProperties>
</file>